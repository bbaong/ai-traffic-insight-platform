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pplicationLayer"/>
          <p:cNvSpPr/>
          <p:nvPr/>
        </p:nvSpPr>
        <p:spPr>
          <a:xfrm>
            <a:off x="1170432" y="109728"/>
            <a:ext cx="9646920" cy="422452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yer_label"/>
          <p:cNvSpPr txBox="1"/>
          <p:nvPr/>
        </p:nvSpPr>
        <p:spPr>
          <a:xfrm>
            <a:off x="1280160" y="1463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Application Layer</a:t>
            </a:r>
          </a:p>
        </p:txBody>
      </p:sp>
      <p:sp>
        <p:nvSpPr>
          <p:cNvPr id="5" name="Frontend"/>
          <p:cNvSpPr/>
          <p:nvPr/>
        </p:nvSpPr>
        <p:spPr>
          <a:xfrm>
            <a:off x="1325880" y="438912"/>
            <a:ext cx="2971800" cy="248716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ontend_header"/>
          <p:cNvSpPr/>
          <p:nvPr/>
        </p:nvSpPr>
        <p:spPr>
          <a:xfrm>
            <a:off x="1325880" y="438912"/>
            <a:ext cx="2971800" cy="384048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ontend_title"/>
          <p:cNvSpPr txBox="1"/>
          <p:nvPr/>
        </p:nvSpPr>
        <p:spPr>
          <a:xfrm>
            <a:off x="1435607" y="475488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Frontend  :5173</a:t>
            </a:r>
          </a:p>
        </p:txBody>
      </p:sp>
      <p:sp>
        <p:nvSpPr>
          <p:cNvPr id="8" name="Frontend_badge"/>
          <p:cNvSpPr/>
          <p:nvPr/>
        </p:nvSpPr>
        <p:spPr>
          <a:xfrm>
            <a:off x="1435607" y="896112"/>
            <a:ext cx="169164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ontend_badge_t"/>
          <p:cNvSpPr txBox="1"/>
          <p:nvPr/>
        </p:nvSpPr>
        <p:spPr>
          <a:xfrm>
            <a:off x="1453895" y="896112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D9488"/>
                </a:solidFill>
                <a:latin typeface="Calibri"/>
              </a:rPr>
              <a:t>GitHub Pages</a:t>
            </a:r>
          </a:p>
        </p:txBody>
      </p:sp>
      <p:sp>
        <p:nvSpPr>
          <p:cNvPr id="10" name="Frontend_body"/>
          <p:cNvSpPr txBox="1"/>
          <p:nvPr/>
        </p:nvSpPr>
        <p:spPr>
          <a:xfrm>
            <a:off x="1435607" y="1188719"/>
            <a:ext cx="2770632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React 19 · Vite · TypeScript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React Router · Zustand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Dashboards, Auth, Reports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Kakao Map UI</a:t>
            </a:r>
          </a:p>
        </p:txBody>
      </p:sp>
      <p:sp>
        <p:nvSpPr>
          <p:cNvPr id="11" name="Backend"/>
          <p:cNvSpPr/>
          <p:nvPr/>
        </p:nvSpPr>
        <p:spPr>
          <a:xfrm>
            <a:off x="4480560" y="438912"/>
            <a:ext cx="3108960" cy="24871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ckend_header"/>
          <p:cNvSpPr/>
          <p:nvPr/>
        </p:nvSpPr>
        <p:spPr>
          <a:xfrm>
            <a:off x="4480560" y="438912"/>
            <a:ext cx="3108960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end_title"/>
          <p:cNvSpPr txBox="1"/>
          <p:nvPr/>
        </p:nvSpPr>
        <p:spPr>
          <a:xfrm>
            <a:off x="4590288" y="475488"/>
            <a:ext cx="2926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Backend  :5000</a:t>
            </a:r>
          </a:p>
        </p:txBody>
      </p:sp>
      <p:sp>
        <p:nvSpPr>
          <p:cNvPr id="14" name="Backend_badge"/>
          <p:cNvSpPr/>
          <p:nvPr/>
        </p:nvSpPr>
        <p:spPr>
          <a:xfrm>
            <a:off x="4590288" y="896112"/>
            <a:ext cx="169164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ckend_badge_t"/>
          <p:cNvSpPr txBox="1"/>
          <p:nvPr/>
        </p:nvSpPr>
        <p:spPr>
          <a:xfrm>
            <a:off x="4608576" y="896112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AWS Lightsail</a:t>
            </a:r>
          </a:p>
        </p:txBody>
      </p:sp>
      <p:sp>
        <p:nvSpPr>
          <p:cNvPr id="16" name="Backend_body"/>
          <p:cNvSpPr txBox="1"/>
          <p:nvPr/>
        </p:nvSpPr>
        <p:spPr>
          <a:xfrm>
            <a:off x="4590288" y="1188719"/>
            <a:ext cx="2907791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Nginx (Let's Encrypt)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Express 5 · TypeScript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JWT · bcrypt · Prisma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REST API · Consultation save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Rider rules · Playwright PDF</a:t>
            </a:r>
          </a:p>
        </p:txBody>
      </p:sp>
      <p:sp>
        <p:nvSpPr>
          <p:cNvPr id="17" name="AI"/>
          <p:cNvSpPr/>
          <p:nvPr/>
        </p:nvSpPr>
        <p:spPr>
          <a:xfrm>
            <a:off x="7772400" y="438912"/>
            <a:ext cx="2880360" cy="2487168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I_header"/>
          <p:cNvSpPr/>
          <p:nvPr/>
        </p:nvSpPr>
        <p:spPr>
          <a:xfrm>
            <a:off x="7772400" y="438912"/>
            <a:ext cx="2880360" cy="38404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I_title"/>
          <p:cNvSpPr txBox="1"/>
          <p:nvPr/>
        </p:nvSpPr>
        <p:spPr>
          <a:xfrm>
            <a:off x="7882127" y="475488"/>
            <a:ext cx="26974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AI Service  :8000</a:t>
            </a:r>
          </a:p>
        </p:txBody>
      </p:sp>
      <p:sp>
        <p:nvSpPr>
          <p:cNvPr id="20" name="AI_badge"/>
          <p:cNvSpPr/>
          <p:nvPr/>
        </p:nvSpPr>
        <p:spPr>
          <a:xfrm>
            <a:off x="7882127" y="896112"/>
            <a:ext cx="169164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I_badge_t"/>
          <p:cNvSpPr txBox="1"/>
          <p:nvPr/>
        </p:nvSpPr>
        <p:spPr>
          <a:xfrm>
            <a:off x="7900416" y="896112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Calibri"/>
              </a:rPr>
              <a:t>AWS Lightsail</a:t>
            </a:r>
          </a:p>
        </p:txBody>
      </p:sp>
      <p:sp>
        <p:nvSpPr>
          <p:cNvPr id="22" name="AI_body"/>
          <p:cNvSpPr txBox="1"/>
          <p:nvPr/>
        </p:nvSpPr>
        <p:spPr>
          <a:xfrm>
            <a:off x="7882127" y="1188719"/>
            <a:ext cx="2679191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FastAPI · Uvicorn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Python 3.11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.pkl InsureGuard / GovGuard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Hotspot cache · Batch / ETL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별도 Lightsail 인스턴스</a:t>
            </a:r>
          </a:p>
        </p:txBody>
      </p:sp>
      <p:sp>
        <p:nvSpPr>
          <p:cNvPr id="23" name="MySQL"/>
          <p:cNvSpPr/>
          <p:nvPr/>
        </p:nvSpPr>
        <p:spPr>
          <a:xfrm>
            <a:off x="4480560" y="3090672"/>
            <a:ext cx="6172200" cy="1078992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58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ySQL_text"/>
          <p:cNvSpPr txBox="1"/>
          <p:nvPr/>
        </p:nvSpPr>
        <p:spPr>
          <a:xfrm>
            <a:off x="4617720" y="3163824"/>
            <a:ext cx="5897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C4A6E"/>
                </a:solidFill>
                <a:latin typeface="Calibri"/>
              </a:rPr>
              <a:t>MySQL  /  AWS Lightsail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0C4A6E"/>
                </a:solidFill>
                <a:latin typeface="Calibri"/>
              </a:rPr>
              <a:t>users  ·  customers  ·  consultations  ·  gov_forecast_*</a:t>
            </a:r>
          </a:p>
        </p:txBody>
      </p:sp>
      <p:cxnSp>
        <p:nvCxnSpPr>
          <p:cNvPr id="25" name="REST_JWT"/>
          <p:cNvCxnSpPr/>
          <p:nvPr/>
        </p:nvCxnSpPr>
        <p:spPr>
          <a:xfrm>
            <a:off x="4297680" y="1554480"/>
            <a:ext cx="182880" cy="0"/>
          </a:xfrm>
          <a:prstGeom prst="line">
            <a:avLst/>
          </a:prstGeom>
          <a:ln w="19050">
            <a:solidFill>
              <a:srgbClr val="64748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lbl_rest"/>
          <p:cNvSpPr txBox="1"/>
          <p:nvPr/>
        </p:nvSpPr>
        <p:spPr>
          <a:xfrm>
            <a:off x="4160520" y="12618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REST / JWT</a:t>
            </a:r>
          </a:p>
        </p:txBody>
      </p:sp>
      <p:cxnSp>
        <p:nvCxnSpPr>
          <p:cNvPr id="27" name="HTTP_BE_AI"/>
          <p:cNvCxnSpPr/>
          <p:nvPr/>
        </p:nvCxnSpPr>
        <p:spPr>
          <a:xfrm>
            <a:off x="7589520" y="1554480"/>
            <a:ext cx="182880" cy="0"/>
          </a:xfrm>
          <a:prstGeom prst="line">
            <a:avLst/>
          </a:prstGeom>
          <a:ln w="19050">
            <a:solidFill>
              <a:srgbClr val="64748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lbl_http"/>
          <p:cNvSpPr txBox="1"/>
          <p:nvPr/>
        </p:nvSpPr>
        <p:spPr>
          <a:xfrm>
            <a:off x="7452360" y="12618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75569"/>
                </a:solidFill>
                <a:latin typeface="Calibri"/>
              </a:rPr>
              <a:t>HTTP</a:t>
            </a:r>
          </a:p>
        </p:txBody>
      </p:sp>
      <p:cxnSp>
        <p:nvCxnSpPr>
          <p:cNvPr id="29" name="Prisma"/>
          <p:cNvCxnSpPr/>
          <p:nvPr/>
        </p:nvCxnSpPr>
        <p:spPr>
          <a:xfrm>
            <a:off x="5989320" y="2926080"/>
            <a:ext cx="0" cy="164592"/>
          </a:xfrm>
          <a:prstGeom prst="line">
            <a:avLst/>
          </a:prstGeom>
          <a:ln w="19050">
            <a:solidFill>
              <a:srgbClr val="64748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bl_prisma"/>
          <p:cNvSpPr txBox="1"/>
          <p:nvPr/>
        </p:nvSpPr>
        <p:spPr>
          <a:xfrm>
            <a:off x="6080760" y="29077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2563EB"/>
                </a:solidFill>
                <a:latin typeface="Calibri"/>
              </a:rPr>
              <a:t>Prisma</a:t>
            </a:r>
          </a:p>
        </p:txBody>
      </p:sp>
      <p:cxnSp>
        <p:nvCxnSpPr>
          <p:cNvPr id="31" name="batch_INSERT"/>
          <p:cNvCxnSpPr/>
          <p:nvPr/>
        </p:nvCxnSpPr>
        <p:spPr>
          <a:xfrm>
            <a:off x="9189720" y="2926080"/>
            <a:ext cx="0" cy="16459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bl_batch"/>
          <p:cNvSpPr txBox="1"/>
          <p:nvPr/>
        </p:nvSpPr>
        <p:spPr>
          <a:xfrm>
            <a:off x="9281160" y="288950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C3AED"/>
                </a:solidFill>
                <a:latin typeface="Calibri"/>
              </a:rPr>
              <a:t>batch INSERT</a:t>
            </a:r>
          </a:p>
        </p:txBody>
      </p:sp>
      <p:sp>
        <p:nvSpPr>
          <p:cNvPr id="33" name="KakaoMapAPI"/>
          <p:cNvSpPr/>
          <p:nvPr/>
        </p:nvSpPr>
        <p:spPr>
          <a:xfrm>
            <a:off x="91440" y="1051560"/>
            <a:ext cx="960120" cy="96012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Kakao_lbl"/>
          <p:cNvSpPr txBox="1"/>
          <p:nvPr/>
        </p:nvSpPr>
        <p:spPr>
          <a:xfrm>
            <a:off x="73152" y="2029968"/>
            <a:ext cx="10241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Kakao Map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API</a:t>
            </a:r>
          </a:p>
        </p:txBody>
      </p:sp>
      <p:cxnSp>
        <p:nvCxnSpPr>
          <p:cNvPr id="35" name="kakao_to_fe_0"/>
          <p:cNvCxnSpPr/>
          <p:nvPr/>
        </p:nvCxnSpPr>
        <p:spPr>
          <a:xfrm>
            <a:off x="1051560" y="1527048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AAS_KOROAD"/>
          <p:cNvSpPr/>
          <p:nvPr/>
        </p:nvSpPr>
        <p:spPr>
          <a:xfrm>
            <a:off x="11064240" y="1051560"/>
            <a:ext cx="987552" cy="960120"/>
          </a:xfrm>
          <a:prstGeom prst="ellipse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AS_lbl"/>
          <p:cNvSpPr txBox="1"/>
          <p:nvPr/>
        </p:nvSpPr>
        <p:spPr>
          <a:xfrm>
            <a:off x="10927080" y="202996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TAAS / KOROAD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1E293B"/>
                </a:solidFill>
                <a:latin typeface="Calibri"/>
              </a:rPr>
              <a:t>OpenAPI</a:t>
            </a:r>
          </a:p>
        </p:txBody>
      </p:sp>
      <p:cxnSp>
        <p:nvCxnSpPr>
          <p:cNvPr id="38" name="taas_to_ai_0"/>
          <p:cNvCxnSpPr/>
          <p:nvPr/>
        </p:nvCxnSpPr>
        <p:spPr>
          <a:xfrm flipH="1">
            <a:off x="10652760" y="1527048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GeminiAPI"/>
          <p:cNvSpPr/>
          <p:nvPr/>
        </p:nvSpPr>
        <p:spPr>
          <a:xfrm>
            <a:off x="4617720" y="4407408"/>
            <a:ext cx="658368" cy="658368"/>
          </a:xfrm>
          <a:prstGeom prst="ellipse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emini_lbl"/>
          <p:cNvSpPr txBox="1"/>
          <p:nvPr/>
        </p:nvSpPr>
        <p:spPr>
          <a:xfrm>
            <a:off x="4297680" y="5065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Gemini REST API</a:t>
            </a:r>
          </a:p>
        </p:txBody>
      </p:sp>
      <p:cxnSp>
        <p:nvCxnSpPr>
          <p:cNvPr id="41" name="gemini_to_be"/>
          <p:cNvCxnSpPr/>
          <p:nvPr/>
        </p:nvCxnSpPr>
        <p:spPr>
          <a:xfrm flipV="1">
            <a:off x="4946904" y="2926080"/>
            <a:ext cx="0" cy="1481328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Nodemailer"/>
          <p:cNvSpPr/>
          <p:nvPr/>
        </p:nvSpPr>
        <p:spPr>
          <a:xfrm>
            <a:off x="6126480" y="4407408"/>
            <a:ext cx="658368" cy="658368"/>
          </a:xfrm>
          <a:prstGeom prst="ellipse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MTP_lbl"/>
          <p:cNvSpPr txBox="1"/>
          <p:nvPr/>
        </p:nvSpPr>
        <p:spPr>
          <a:xfrm>
            <a:off x="5806440" y="506577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Nodemailer (SMTP)</a:t>
            </a:r>
          </a:p>
        </p:txBody>
      </p:sp>
      <p:cxnSp>
        <p:nvCxnSpPr>
          <p:cNvPr id="44" name="smtp_to_be"/>
          <p:cNvCxnSpPr/>
          <p:nvPr/>
        </p:nvCxnSpPr>
        <p:spPr>
          <a:xfrm flipV="1">
            <a:off x="6455664" y="2926080"/>
            <a:ext cx="0" cy="1481328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uckDNS"/>
          <p:cNvSpPr/>
          <p:nvPr/>
        </p:nvSpPr>
        <p:spPr>
          <a:xfrm>
            <a:off x="11064240" y="164592"/>
            <a:ext cx="914400" cy="86868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uckDNS_lbl"/>
          <p:cNvSpPr txBox="1"/>
          <p:nvPr/>
        </p:nvSpPr>
        <p:spPr>
          <a:xfrm>
            <a:off x="11018520" y="18288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Duck DNS</a:t>
            </a:r>
          </a:p>
        </p:txBody>
      </p:sp>
      <p:cxnSp>
        <p:nvCxnSpPr>
          <p:cNvPr id="47" name="duck_to_backend_0"/>
          <p:cNvCxnSpPr/>
          <p:nvPr/>
        </p:nvCxnSpPr>
        <p:spPr>
          <a:xfrm flipH="1">
            <a:off x="7589520" y="594360"/>
            <a:ext cx="34747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uck_to_backend_1"/>
          <p:cNvCxnSpPr/>
          <p:nvPr/>
        </p:nvCxnSpPr>
        <p:spPr>
          <a:xfrm>
            <a:off x="7589520" y="594360"/>
            <a:ext cx="0" cy="3657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DeployBar"/>
          <p:cNvSpPr/>
          <p:nvPr/>
        </p:nvSpPr>
        <p:spPr>
          <a:xfrm>
            <a:off x="201168" y="5376672"/>
            <a:ext cx="11795760" cy="1170432"/>
          </a:xfrm>
          <a:prstGeom prst="roundRect">
            <a:avLst>
              <a:gd name="adj" fmla="val 12000"/>
            </a:avLst>
          </a:prstGeom>
          <a:solidFill>
            <a:srgbClr val="F0F9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ocalDev"/>
          <p:cNvSpPr/>
          <p:nvPr/>
        </p:nvSpPr>
        <p:spPr>
          <a:xfrm>
            <a:off x="347472" y="5650992"/>
            <a:ext cx="12344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ocalDev_t"/>
          <p:cNvSpPr txBox="1"/>
          <p:nvPr/>
        </p:nvSpPr>
        <p:spPr>
          <a:xfrm>
            <a:off x="365760" y="583387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Local Dev</a:t>
            </a:r>
          </a:p>
        </p:txBody>
      </p:sp>
      <p:sp>
        <p:nvSpPr>
          <p:cNvPr id="52" name="GitHub"/>
          <p:cNvSpPr/>
          <p:nvPr/>
        </p:nvSpPr>
        <p:spPr>
          <a:xfrm>
            <a:off x="1828800" y="5650992"/>
            <a:ext cx="1097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itHub_t"/>
          <p:cNvSpPr txBox="1"/>
          <p:nvPr/>
        </p:nvSpPr>
        <p:spPr>
          <a:xfrm>
            <a:off x="1828800" y="58338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GitHub</a:t>
            </a:r>
          </a:p>
        </p:txBody>
      </p:sp>
      <p:sp>
        <p:nvSpPr>
          <p:cNvPr id="54" name="Deploy"/>
          <p:cNvSpPr/>
          <p:nvPr/>
        </p:nvSpPr>
        <p:spPr>
          <a:xfrm>
            <a:off x="3182112" y="5650992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ploy_t"/>
          <p:cNvSpPr txBox="1"/>
          <p:nvPr/>
        </p:nvSpPr>
        <p:spPr>
          <a:xfrm>
            <a:off x="3182112" y="5833872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Deploy</a:t>
            </a:r>
          </a:p>
        </p:txBody>
      </p:sp>
      <p:cxnSp>
        <p:nvCxnSpPr>
          <p:cNvPr id="56" name="d1"/>
          <p:cNvCxnSpPr/>
          <p:nvPr/>
        </p:nvCxnSpPr>
        <p:spPr>
          <a:xfrm>
            <a:off x="1581912" y="6007608"/>
            <a:ext cx="246888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d2"/>
          <p:cNvCxnSpPr/>
          <p:nvPr/>
        </p:nvCxnSpPr>
        <p:spPr>
          <a:xfrm>
            <a:off x="2926080" y="6007608"/>
            <a:ext cx="256032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ages"/>
          <p:cNvSpPr/>
          <p:nvPr/>
        </p:nvSpPr>
        <p:spPr>
          <a:xfrm>
            <a:off x="4480560" y="5577840"/>
            <a:ext cx="1691640" cy="84124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ges_t"/>
          <p:cNvSpPr txBox="1"/>
          <p:nvPr/>
        </p:nvSpPr>
        <p:spPr>
          <a:xfrm>
            <a:off x="4498848" y="5687568"/>
            <a:ext cx="1664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GitHub Pages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D9488"/>
                </a:solidFill>
                <a:latin typeface="Calibri"/>
              </a:rPr>
              <a:t>Frontend</a:t>
            </a:r>
          </a:p>
        </p:txBody>
      </p:sp>
      <p:sp>
        <p:nvSpPr>
          <p:cNvPr id="60" name="LS_Backend"/>
          <p:cNvSpPr/>
          <p:nvPr/>
        </p:nvSpPr>
        <p:spPr>
          <a:xfrm>
            <a:off x="6309360" y="5577840"/>
            <a:ext cx="1874519" cy="84124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S_Backend_t"/>
          <p:cNvSpPr txBox="1"/>
          <p:nvPr/>
        </p:nvSpPr>
        <p:spPr>
          <a:xfrm>
            <a:off x="6327648" y="5650992"/>
            <a:ext cx="18470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Lightsail Backend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Calibri"/>
              </a:rPr>
              <a:t>Nginx · Express :5000</a:t>
            </a:r>
          </a:p>
        </p:txBody>
      </p:sp>
      <p:sp>
        <p:nvSpPr>
          <p:cNvPr id="62" name="LS_AI"/>
          <p:cNvSpPr/>
          <p:nvPr/>
        </p:nvSpPr>
        <p:spPr>
          <a:xfrm>
            <a:off x="8321040" y="5577840"/>
            <a:ext cx="1691640" cy="841248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S_AI_t"/>
          <p:cNvSpPr txBox="1"/>
          <p:nvPr/>
        </p:nvSpPr>
        <p:spPr>
          <a:xfrm>
            <a:off x="8339327" y="5687568"/>
            <a:ext cx="1664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Calibri"/>
              </a:rPr>
              <a:t>Lightsail AI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7C3AED"/>
                </a:solidFill>
                <a:latin typeface="Calibri"/>
              </a:rPr>
              <a:t>FastAPI :8000</a:t>
            </a:r>
          </a:p>
        </p:txBody>
      </p:sp>
      <p:sp>
        <p:nvSpPr>
          <p:cNvPr id="64" name="LS_MySQL"/>
          <p:cNvSpPr/>
          <p:nvPr/>
        </p:nvSpPr>
        <p:spPr>
          <a:xfrm>
            <a:off x="10149840" y="5577840"/>
            <a:ext cx="1645920" cy="841248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58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S_MySQL_t"/>
          <p:cNvSpPr txBox="1"/>
          <p:nvPr/>
        </p:nvSpPr>
        <p:spPr>
          <a:xfrm>
            <a:off x="10168128" y="5687568"/>
            <a:ext cx="16093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C4A6E"/>
                </a:solidFill>
                <a:latin typeface="Calibri"/>
              </a:rPr>
              <a:t>Lightsail MySQL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C4A6E"/>
                </a:solidFill>
                <a:latin typeface="Calibri"/>
              </a:rPr>
              <a:t>MySQL</a:t>
            </a:r>
          </a:p>
        </p:txBody>
      </p:sp>
      <p:cxnSp>
        <p:nvCxnSpPr>
          <p:cNvPr id="66" name="fork_pages"/>
          <p:cNvCxnSpPr/>
          <p:nvPr/>
        </p:nvCxnSpPr>
        <p:spPr>
          <a:xfrm>
            <a:off x="4233672" y="5852160"/>
            <a:ext cx="246888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fork_be"/>
          <p:cNvCxnSpPr/>
          <p:nvPr/>
        </p:nvCxnSpPr>
        <p:spPr>
          <a:xfrm>
            <a:off x="4233672" y="6144768"/>
            <a:ext cx="2075688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ooter"/>
          <p:cNvSpPr txBox="1"/>
          <p:nvPr/>
        </p:nvSpPr>
        <p:spPr>
          <a:xfrm>
            <a:off x="201168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Frontend는 GitHub Pages, Backend와 AI는 서로 다른 AWS Lightsail. Duck DNS는 Backend(Nginx)만 가리킴.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